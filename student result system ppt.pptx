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325" r:id="rId3"/>
    <p:sldId id="326" r:id="rId4"/>
    <p:sldId id="336" r:id="rId5"/>
    <p:sldId id="327" r:id="rId6"/>
    <p:sldId id="337" r:id="rId7"/>
    <p:sldId id="328" r:id="rId8"/>
    <p:sldId id="329" r:id="rId9"/>
    <p:sldId id="330" r:id="rId10"/>
    <p:sldId id="338" r:id="rId11"/>
    <p:sldId id="339" r:id="rId12"/>
    <p:sldId id="340" r:id="rId13"/>
    <p:sldId id="341" r:id="rId14"/>
    <p:sldId id="331" r:id="rId15"/>
    <p:sldId id="342" r:id="rId16"/>
    <p:sldId id="333" r:id="rId17"/>
    <p:sldId id="334" r:id="rId18"/>
    <p:sldId id="343" r:id="rId19"/>
    <p:sldId id="344" r:id="rId20"/>
    <p:sldId id="324" r:id="rId21"/>
  </p:sldIdLst>
  <p:sldSz cx="12192000" cy="6858000"/>
  <p:notesSz cx="6858000" cy="12192000"/>
  <p:embeddedFontLst>
    <p:embeddedFont>
      <p:font typeface="Aharoni" panose="02010803020104030203" pitchFamily="2" charset="-79"/>
      <p:bold r:id="rId23"/>
    </p:embeddedFont>
    <p:embeddedFont>
      <p:font typeface="Arial Rounded MT Bold" panose="020F0704030504030204" pitchFamily="34" charset="0"/>
      <p:regular r:id="rId24"/>
    </p:embeddedFont>
    <p:embeddedFont>
      <p:font typeface="Maiandra GD" panose="020E0502030308020204" pitchFamily="34" charset="0"/>
      <p:regular r:id="rId25"/>
    </p:embeddedFont>
  </p:embeddedFontLst>
  <p:defaultTextStyle>
    <a:defPPr>
      <a:defRPr lang="en-US"/>
    </a:defPPr>
    <a:lvl1pPr marL="0" lvl="0" algn="l" rtl="0">
      <a:defRPr lang="en-US" sz="1800" dirty="0">
        <a:solidFill>
          <a:schemeClr val="tx1"/>
        </a:solidFill>
        <a:latin typeface="+mn-lt"/>
      </a:defRPr>
    </a:lvl1pPr>
    <a:lvl2pPr marL="457200" lvl="1" algn="l" rtl="0">
      <a:defRPr lang="en-US" sz="1800" dirty="0">
        <a:solidFill>
          <a:schemeClr val="tx1"/>
        </a:solidFill>
        <a:latin typeface="+mn-lt"/>
      </a:defRPr>
    </a:lvl2pPr>
    <a:lvl3pPr marL="914400" lvl="2" algn="l" rtl="0">
      <a:defRPr lang="en-US" sz="1800" dirty="0">
        <a:solidFill>
          <a:schemeClr val="tx1"/>
        </a:solidFill>
        <a:latin typeface="+mn-lt"/>
      </a:defRPr>
    </a:lvl3pPr>
    <a:lvl4pPr marL="1371600" lvl="3" algn="l" rtl="0">
      <a:defRPr lang="en-US" sz="1800" dirty="0">
        <a:solidFill>
          <a:schemeClr val="tx1"/>
        </a:solidFill>
        <a:latin typeface="+mn-lt"/>
      </a:defRPr>
    </a:lvl4pPr>
    <a:lvl5pPr marL="1828800" lvl="4" algn="l" rtl="0">
      <a:defRPr lang="en-US" sz="1800" dirty="0">
        <a:solidFill>
          <a:schemeClr val="tx1"/>
        </a:solidFill>
        <a:latin typeface="+mn-lt"/>
      </a:defRPr>
    </a:lvl5pPr>
    <a:lvl6pPr marL="2286000" lvl="5" algn="l" rtl="0">
      <a:defRPr lang="en-US" sz="1800" dirty="0">
        <a:solidFill>
          <a:schemeClr val="tx1"/>
        </a:solidFill>
        <a:latin typeface="+mn-lt"/>
      </a:defRPr>
    </a:lvl6pPr>
    <a:lvl7pPr marL="2743200" lvl="6" algn="l" rtl="0">
      <a:defRPr lang="en-US" sz="1800" dirty="0">
        <a:solidFill>
          <a:schemeClr val="tx1"/>
        </a:solidFill>
        <a:latin typeface="+mn-lt"/>
      </a:defRPr>
    </a:lvl7pPr>
    <a:lvl8pPr marL="3200400" lvl="7" algn="l" rtl="0">
      <a:defRPr lang="en-US" sz="1800" dirty="0">
        <a:solidFill>
          <a:schemeClr val="tx1"/>
        </a:solidFill>
        <a:latin typeface="+mn-lt"/>
      </a:defRPr>
    </a:lvl8pPr>
    <a:lvl9pPr marL="3657600" lvl="8" algn="l" rtl="0">
      <a:defRPr lang="en-US" sz="1800" dirty="0">
        <a:solidFill>
          <a:schemeClr val="tx1"/>
        </a:solidFill>
        <a:latin typeface="+mn-lt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BC64A9-5C16-4007-9939-64A4DF8CCA50}" v="36" dt="2026-08-24T13:24:41.070"/>
  </p1510:revLst>
</p1510:revInfo>
</file>

<file path=ppt/tableStyles.xml><?xml version="1.0" encoding="utf-8"?>
<a:tblStyleLst xmlns:a="http://schemas.openxmlformats.org/drawingml/2006/main" def="{5C22544A-7EE6-4342-B048-85BDC9FD1C3A}">
  <a:tblStyle styleId="{42F484E2-D13C-4198-809A-BEC5E46278DC}" styleName="Style 3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accent1"/>
              </a:solidFill>
            </a:ln>
          </a:left>
          <a:right>
            <a:ln w="12700">
              <a:solidFill>
                <a:schemeClr val="accent1"/>
              </a:solidFill>
            </a:ln>
          </a:right>
          <a:top>
            <a:ln w="12700">
              <a:solidFill>
                <a:schemeClr val="accent1"/>
              </a:solidFill>
            </a:ln>
          </a:top>
          <a:bottom>
            <a:ln w="12700">
              <a:solidFill>
                <a:schemeClr val="accent1"/>
              </a:solidFill>
            </a:ln>
          </a:bottom>
          <a:insideH>
            <a:ln w="12700">
              <a:solidFill>
                <a:schemeClr val="accent1"/>
              </a:solidFill>
            </a:ln>
          </a:insideH>
          <a:insideV>
            <a:ln w="12700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19999"/>
            </a:schemeClr>
          </a:solidFill>
        </a:fill>
      </a:tcStyle>
    </a:band1H>
    <a:band1V>
      <a:tcStyle>
        <a:tcBdr/>
        <a:fill>
          <a:solidFill>
            <a:schemeClr val="accent1">
              <a:alpha val="19999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63" autoAdjust="0"/>
    <p:restoredTop sz="86405" autoAdjust="0"/>
  </p:normalViewPr>
  <p:slideViewPr>
    <p:cSldViewPr>
      <p:cViewPr>
        <p:scale>
          <a:sx n="75" d="100"/>
          <a:sy n="75" d="100"/>
        </p:scale>
        <p:origin x="1171" y="-1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671638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185095" y="0"/>
            <a:ext cx="1671638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B65459-4C01-9248-BDAA-F28591FAF6F5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947988" y="2032000"/>
            <a:ext cx="9753601" cy="5486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85763" y="7823200"/>
            <a:ext cx="3086100" cy="6400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5440380"/>
            <a:ext cx="1671638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85095" y="15440380"/>
            <a:ext cx="1671638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27042-6B61-B148-8485-8BBBFAA13D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321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1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327042-6B61-B148-8485-8BBBFAA13D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547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3DCFA7E3-AF1E-4675-AD18-D5B679F37F47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54E6D2F1-D737-43DE-B4CE-C454EF7BB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854199"/>
            <a:ext cx="9144000" cy="1655763"/>
          </a:xfrm>
        </p:spPr>
        <p:txBody>
          <a:bodyPr rtlCol="0" anchor="b"/>
          <a:lstStyle>
            <a:lvl1pPr lvl="0" algn="ctr">
              <a:defRPr lang="en-US" sz="6000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32171CF1-2CD1-4848-A55A-5A508E25A327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E04F51DF-EF08-4C97-A330-FD7D92F0EA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lvl="0" indent="0" algn="ctr">
              <a:buNone/>
              <a:defRPr lang="en-US" sz="2400" dirty="0"/>
            </a:lvl1pPr>
            <a:lvl2pPr marL="457200" lvl="1" indent="0" algn="ctr">
              <a:buNone/>
              <a:defRPr lang="en-US" sz="2000" dirty="0"/>
            </a:lvl2pPr>
            <a:lvl3pPr marL="914400" lvl="2" indent="0" algn="ctr">
              <a:buNone/>
              <a:defRPr lang="en-US" sz="1800" dirty="0"/>
            </a:lvl3pPr>
            <a:lvl4pPr marL="1371600" lvl="3" indent="0" algn="ctr">
              <a:buNone/>
              <a:defRPr lang="en-US" sz="1600" dirty="0"/>
            </a:lvl4pPr>
            <a:lvl5pPr marL="1828800" lvl="4" indent="0" algn="ctr">
              <a:buNone/>
              <a:defRPr lang="en-US" sz="1600" dirty="0"/>
            </a:lvl5pPr>
            <a:lvl6pPr marL="2286000" lvl="5" indent="0" algn="ctr">
              <a:buNone/>
              <a:defRPr lang="en-US" sz="1600" dirty="0"/>
            </a:lvl6pPr>
            <a:lvl7pPr marL="2743200" lvl="6" indent="0" algn="ctr">
              <a:buNone/>
              <a:defRPr lang="en-US" sz="1600" dirty="0"/>
            </a:lvl7pPr>
            <a:lvl8pPr marL="3200400" lvl="7" indent="0" algn="ctr">
              <a:buNone/>
              <a:defRPr lang="en-US" sz="1600" dirty="0"/>
            </a:lvl8pPr>
            <a:lvl9pPr marL="3657600" lvl="8" indent="0" algn="ctr">
              <a:buNone/>
              <a:defRPr lang="en-US" sz="1600" dirty="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" name="Picture 3">
            <a:extLst>
              <a:ext uri="{C1EB77FD-C848-422B-B273-451CDA41F432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21682ECF-C071-4F62-8564-87ABCCA31A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67608" y="592088"/>
            <a:ext cx="7609140" cy="1008112"/>
          </a:xfrm>
          <a:prstGeom prst="rect">
            <a:avLst/>
          </a:prstGeom>
          <a:noFill/>
        </p:spPr>
      </p:pic>
      <p:sp>
        <p:nvSpPr>
          <p:cNvPr id="5" name="Footer Placeholder 4">
            <a:extLst>
              <a:ext uri="{C687AB22-C009-4796-A595-4B274F53E9E6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19EC38CB-622C-4106-803A-85E3D547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lvl="0"/>
          </a:lstStyle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6" name="Slide Number Placeholder 5">
            <a:extLst>
              <a:ext uri="{30F4214F-3E4E-4B8B-8AC2-BF59D50B2CD1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825D679E-58E0-45F1-BEFC-163C6EEC1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lvl="0"/>
          </a:lstStyle>
          <a:p>
            <a:r>
              <a:rPr lang="en-US" dirty="0"/>
              <a:t>&lt;#&gt;</a:t>
            </a:r>
          </a:p>
        </p:txBody>
      </p:sp>
      <p:sp>
        <p:nvSpPr>
          <p:cNvPr id="7" name="Date Placeholder 3">
            <a:extLst>
              <a:ext uri="{02364871-6258-47BB-A41D-1E9BEBD3EA96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4E775BF1-9C64-4531-A7E2-730347FD3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lvl="0"/>
          </a:lstStyle>
          <a:p>
            <a:fld id="{23B885CB-12B0-4AB7-A523-856A576656C9}" type="datetime1">
              <a:rPr lang="en-US" smtClean="0"/>
              <a:t>10/27/2026</a:t>
            </a:fld>
            <a:endParaRPr lang="en-US" dirty="0"/>
          </a:p>
        </p:txBody>
      </p:sp>
    </p:spTree>
    <p:extLst>
      <p:ext uri="{7D129387-9967-4C73-939D-69EF041DFD95}">
        <p14:creationId xmlns:p14="http://schemas.microsoft.com/office/powerpoint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val="1748511710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05269A97-DC81-49F9-B896-84CAB659C624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756F5785-025F-4915-96E3-0AFF7163BC1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69085" y="1561876"/>
            <a:ext cx="10515600" cy="4531419"/>
          </a:xfrm>
        </p:spPr>
        <p:txBody>
          <a:bodyPr rtlCol="0"/>
          <a:lstStyle>
            <a:lvl1pPr marL="457200" lvl="0" indent="0">
              <a:buNone/>
            </a:lvl1pPr>
            <a:lvl2pPr marL="914400" lvl="1" indent="0">
              <a:buNone/>
            </a:lvl2pPr>
            <a:lvl3pPr marL="1371600" lvl="2" indent="0">
              <a:buNone/>
            </a:lvl3pPr>
            <a:lvl4pPr marL="1828800" lvl="3" indent="0">
              <a:buNone/>
            </a:lvl4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Date Placeholder 2">
            <a:extLst>
              <a:ext uri="{C7EE3D1E-6A2F-4B40-9445-6784FC740ACE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44C561F3-3431-4CB3-94B3-3A3D9CDA63D8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>
            <a:off x="695400" y="6278769"/>
            <a:ext cx="1656183" cy="365125"/>
          </a:xfrm>
          <a:ln>
            <a:noFill/>
          </a:ln>
        </p:spPr>
        <p:txBody>
          <a:bodyPr rtlCol="0"/>
          <a:lstStyle>
            <a:lvl1pPr lvl="0">
              <a:defRPr lang="en-US" b="1" dirty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fld id="{C20F1802-9C65-458A-8FBF-F4B557FF2340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E2B100E3-D1A2-4814-971B-1F28BC986BE8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56403740-14DB-4D0C-AC81-1640F2592B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567608" y="6278771"/>
            <a:ext cx="6912768" cy="365125"/>
          </a:xfrm>
          <a:ln>
            <a:noFill/>
          </a:ln>
        </p:spPr>
        <p:txBody>
          <a:bodyPr rtlCol="0"/>
          <a:lstStyle>
            <a:lvl1pPr lvl="0">
              <a:defRPr lang="en-US" b="1" dirty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pic>
        <p:nvPicPr>
          <p:cNvPr id="5" name="Picture 2">
            <a:extLst>
              <a:ext uri="{DAD87817-DB1B-4DE8-BD41-41BB3E99A74F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D3518EA9-28E9-4397-BCB4-F5D7ABFF9E3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40709" y="-243408"/>
            <a:ext cx="3249644" cy="1800000"/>
          </a:xfrm>
          <a:prstGeom prst="rect">
            <a:avLst/>
          </a:prstGeom>
          <a:noFill/>
        </p:spPr>
      </p:pic>
      <p:sp>
        <p:nvSpPr>
          <p:cNvPr id="6" name="Slide Number Placeholder 3">
            <a:extLst>
              <a:ext uri="{8B62DEED-5952-4478-9464-706CCDCB22D5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F265A311-D434-4806-B3C0-ED40E2B04A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0272464" y="6356350"/>
            <a:ext cx="1081336" cy="365125"/>
          </a:xfrm>
        </p:spPr>
        <p:txBody>
          <a:bodyPr rtlCol="0"/>
          <a:lstStyle/>
          <a:p>
            <a:fld id="{9359D16F-76A5-41BA-ADDD-CBF352B33DDD}" type="slidenum">
              <a:t>‹#›</a:t>
            </a:fld>
            <a:endParaRPr lang="en-US" dirty="0"/>
          </a:p>
        </p:txBody>
      </p:sp>
    </p:spTree>
    <p:extLst>
      <p:ext uri="{E791D5F0-FCE4-45B8-828D-F7D7E855498A}">
        <p14:creationId xmlns:p14="http://schemas.microsoft.com/office/powerpoint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val="1748511710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2A124749-B5E7-4428-BF59-41C47B6A6124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68CFA2DB-E1A9-463A-BC5A-35A8CCF5293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40709" y="-243408"/>
            <a:ext cx="3249644" cy="1800000"/>
          </a:xfrm>
          <a:prstGeom prst="rect">
            <a:avLst/>
          </a:prstGeom>
          <a:noFill/>
        </p:spPr>
      </p:pic>
      <p:sp>
        <p:nvSpPr>
          <p:cNvPr id="3" name="Date Placeholder 2">
            <a:extLst>
              <a:ext uri="{E7A761B9-81CB-49B2-8BE6-983B6B07B3DA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8F471AC3-982D-4B96-9E59-D3B6F74D9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5400" y="6278769"/>
            <a:ext cx="1656183" cy="365125"/>
          </a:xfrm>
          <a:ln>
            <a:noFill/>
          </a:ln>
        </p:spPr>
        <p:txBody>
          <a:bodyPr rtlCol="0"/>
          <a:lstStyle>
            <a:lvl1pPr lvl="0">
              <a:defRPr lang="en-US" b="1" dirty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7A687B93-B742-4FC6-AC3F-36C63D4DF72A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F5844C2E-6153-4C88-A824-95DE18C3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67608" y="6278771"/>
            <a:ext cx="6912768" cy="365125"/>
          </a:xfrm>
          <a:ln>
            <a:noFill/>
          </a:ln>
        </p:spPr>
        <p:txBody>
          <a:bodyPr rtlCol="0"/>
          <a:lstStyle>
            <a:lvl1pPr lvl="0">
              <a:defRPr lang="en-US" b="1" dirty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3">
            <a:extLst>
              <a:ext uri="{A59E037D-D639-4F65-9477-94A0EBCDC4E8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EC0A76B5-951D-4394-8F2D-A4E34AC06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72464" y="6356350"/>
            <a:ext cx="1081336" cy="365125"/>
          </a:xfrm>
        </p:spPr>
        <p:txBody>
          <a:bodyPr rtlCol="0"/>
          <a:lstStyle/>
          <a:p>
            <a:fld id="{D9C5B093-D3DD-4808-813A-F58BF8E67773}" type="slidenum">
              <a:t>‹#›</a:t>
            </a:fld>
            <a:endParaRPr lang="en-US" dirty="0"/>
          </a:p>
        </p:txBody>
      </p:sp>
    </p:spTree>
    <p:extLst>
      <p:ext uri="{917857EF-1D39-4225-A829-037EB1D27937}">
        <p14:creationId xmlns:p14="http://schemas.microsoft.com/office/powerpoint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val="1748511710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Master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48EA39CE-E158-4B2A-99CD-545B14A22D34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4313CDBB-BA82-4DED-973B-07A500BC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76CEBE57-5AC2-4233-9D99-CAE469A4C858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6438A3C5-0C27-48D9-9FD4-D716863017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5757E326-5F3E-43A1-830E-27FE2CE96B3D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A1FB99B2-34CB-4F0C-AABD-9CC4327C4B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lvl="0" algn="l">
              <a:defRPr lang="en-US"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2B5FF2-DAF6-4310-9A1D-797D39C1E342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5" name="Footer Placeholder 4">
            <a:extLst>
              <a:ext uri="{71906065-35B4-4935-A9D1-FD668DE1E598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F7A5B885-A2DA-46BA-BC42-719D5CA3E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lvl="0" algn="ctr">
              <a:defRPr lang="en-US"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6" name="Slide Number Placeholder 5">
            <a:extLst>
              <a:ext uri="{35F2950A-B1CB-4727-AB58-367C2C82CEAF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9979ABAE-2F0E-462F-935B-AC49E1A2F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lvl="0" algn="r">
              <a:defRPr lang="en-US"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A9481-3A84-418C-9FCC-1F8C2D158F80}" type="slidenum"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/>
  <p:txStyles>
    <p:titleStyle>
      <a:lvl1pPr lvl="0" algn="l" rtl="0">
        <a:lnSpc>
          <a:spcPct val="90000"/>
        </a:lnSpc>
        <a:spcBef>
          <a:spcPct val="0"/>
        </a:spcBef>
        <a:buNone/>
        <a:defRPr lang="en-US" sz="4400" dirty="0">
          <a:solidFill>
            <a:schemeClr val="tx1"/>
          </a:solidFill>
          <a:latin typeface="+mj-lt"/>
        </a:defRPr>
      </a:lvl1pPr>
    </p:titleStyle>
    <p:bodyStyle>
      <a:lvl1pPr marL="228600" lvl="0" indent="-228600" algn="l" rtl="0">
        <a:lnSpc>
          <a:spcPct val="90000"/>
        </a:lnSpc>
        <a:spcBef>
          <a:spcPts val="1000"/>
        </a:spcBef>
        <a:buChar char="•"/>
        <a:defRPr lang="en-US" sz="2800" dirty="0">
          <a:solidFill>
            <a:schemeClr val="tx1"/>
          </a:solidFill>
          <a:latin typeface="+mn-lt"/>
        </a:defRPr>
      </a:lvl1pPr>
      <a:lvl2pPr marL="685800" lvl="1" indent="-228600" algn="l" rtl="0">
        <a:lnSpc>
          <a:spcPct val="90000"/>
        </a:lnSpc>
        <a:spcBef>
          <a:spcPts val="500"/>
        </a:spcBef>
        <a:buChar char="•"/>
        <a:defRPr lang="en-US" sz="2400" dirty="0">
          <a:solidFill>
            <a:schemeClr val="tx1"/>
          </a:solidFill>
          <a:latin typeface="+mn-lt"/>
        </a:defRPr>
      </a:lvl2pPr>
      <a:lvl3pPr marL="1143000" lvl="2" indent="-228600" algn="l" rtl="0">
        <a:lnSpc>
          <a:spcPct val="90000"/>
        </a:lnSpc>
        <a:spcBef>
          <a:spcPts val="500"/>
        </a:spcBef>
        <a:buChar char="•"/>
        <a:defRPr lang="en-US" sz="2000" dirty="0">
          <a:solidFill>
            <a:schemeClr val="tx1"/>
          </a:solidFill>
          <a:latin typeface="+mn-lt"/>
        </a:defRPr>
      </a:lvl3pPr>
      <a:lvl4pPr marL="1600200" lvl="3" indent="-228600" algn="l" rtl="0">
        <a:lnSpc>
          <a:spcPct val="90000"/>
        </a:lnSpc>
        <a:spcBef>
          <a:spcPts val="500"/>
        </a:spcBef>
        <a:buChar char="•"/>
        <a:defRPr lang="en-US" sz="1800" dirty="0">
          <a:solidFill>
            <a:schemeClr val="tx1"/>
          </a:solidFill>
          <a:latin typeface="+mn-lt"/>
        </a:defRPr>
      </a:lvl4pPr>
      <a:lvl5pPr marL="2057400" lvl="4" indent="-228600" algn="l" rtl="0">
        <a:lnSpc>
          <a:spcPct val="90000"/>
        </a:lnSpc>
        <a:spcBef>
          <a:spcPts val="500"/>
        </a:spcBef>
        <a:buChar char="•"/>
        <a:defRPr lang="en-US" sz="1800" dirty="0">
          <a:solidFill>
            <a:schemeClr val="tx1"/>
          </a:solidFill>
          <a:latin typeface="+mn-lt"/>
        </a:defRPr>
      </a:lvl5pPr>
      <a:lvl6pPr marL="2514600" lvl="5" indent="-228600" algn="l" rtl="0">
        <a:lnSpc>
          <a:spcPct val="90000"/>
        </a:lnSpc>
        <a:spcBef>
          <a:spcPts val="500"/>
        </a:spcBef>
        <a:buChar char="•"/>
        <a:defRPr lang="en-US" sz="1800" dirty="0">
          <a:solidFill>
            <a:schemeClr val="tx1"/>
          </a:solidFill>
          <a:latin typeface="+mn-lt"/>
        </a:defRPr>
      </a:lvl6pPr>
      <a:lvl7pPr marL="2971800" lvl="6" indent="-228600" algn="l" rtl="0">
        <a:lnSpc>
          <a:spcPct val="90000"/>
        </a:lnSpc>
        <a:spcBef>
          <a:spcPts val="500"/>
        </a:spcBef>
        <a:buChar char="•"/>
        <a:defRPr lang="en-US" sz="1800" dirty="0">
          <a:solidFill>
            <a:schemeClr val="tx1"/>
          </a:solidFill>
          <a:latin typeface="+mn-lt"/>
        </a:defRPr>
      </a:lvl7pPr>
      <a:lvl8pPr marL="3429000" lvl="7" indent="-228600" algn="l" rtl="0">
        <a:lnSpc>
          <a:spcPct val="90000"/>
        </a:lnSpc>
        <a:spcBef>
          <a:spcPts val="500"/>
        </a:spcBef>
        <a:buChar char="•"/>
        <a:defRPr lang="en-US" sz="1800" dirty="0">
          <a:solidFill>
            <a:schemeClr val="tx1"/>
          </a:solidFill>
          <a:latin typeface="+mn-lt"/>
        </a:defRPr>
      </a:lvl8pPr>
      <a:lvl9pPr marL="3886200" lvl="8" indent="-228600" algn="l" rtl="0">
        <a:lnSpc>
          <a:spcPct val="90000"/>
        </a:lnSpc>
        <a:spcBef>
          <a:spcPts val="500"/>
        </a:spcBef>
        <a:buChar char="•"/>
        <a:defRPr lang="en-US" sz="1800" dirty="0">
          <a:solidFill>
            <a:schemeClr val="tx1"/>
          </a:solidFill>
          <a:latin typeface="+mn-lt"/>
        </a:defRPr>
      </a:lvl9pPr>
    </p:bodyStyle>
    <p:otherStyle>
      <a:lvl1pPr marL="0" lvl="0" algn="l" rtl="0">
        <a:defRPr lang="en-US" sz="1800" dirty="0">
          <a:solidFill>
            <a:schemeClr val="tx1"/>
          </a:solidFill>
          <a:latin typeface="+mn-lt"/>
        </a:defRPr>
      </a:lvl1pPr>
      <a:lvl2pPr marL="457200" lvl="1" algn="l" rtl="0">
        <a:defRPr lang="en-US" sz="1800" dirty="0">
          <a:solidFill>
            <a:schemeClr val="tx1"/>
          </a:solidFill>
          <a:latin typeface="+mn-lt"/>
        </a:defRPr>
      </a:lvl2pPr>
      <a:lvl3pPr marL="914400" lvl="2" algn="l" rtl="0">
        <a:defRPr lang="en-US" sz="1800" dirty="0">
          <a:solidFill>
            <a:schemeClr val="tx1"/>
          </a:solidFill>
          <a:latin typeface="+mn-lt"/>
        </a:defRPr>
      </a:lvl3pPr>
      <a:lvl4pPr marL="1371600" lvl="3" algn="l" rtl="0">
        <a:defRPr lang="en-US" sz="1800" dirty="0">
          <a:solidFill>
            <a:schemeClr val="tx1"/>
          </a:solidFill>
          <a:latin typeface="+mn-lt"/>
        </a:defRPr>
      </a:lvl4pPr>
      <a:lvl5pPr marL="1828800" lvl="4" algn="l" rtl="0">
        <a:defRPr lang="en-US" sz="1800" dirty="0">
          <a:solidFill>
            <a:schemeClr val="tx1"/>
          </a:solidFill>
          <a:latin typeface="+mn-lt"/>
        </a:defRPr>
      </a:lvl5pPr>
      <a:lvl6pPr marL="2286000" lvl="5" algn="l" rtl="0">
        <a:defRPr lang="en-US" sz="1800" dirty="0">
          <a:solidFill>
            <a:schemeClr val="tx1"/>
          </a:solidFill>
          <a:latin typeface="+mn-lt"/>
        </a:defRPr>
      </a:lvl6pPr>
      <a:lvl7pPr marL="2743200" lvl="6" algn="l" rtl="0">
        <a:defRPr lang="en-US" sz="1800" dirty="0">
          <a:solidFill>
            <a:schemeClr val="tx1"/>
          </a:solidFill>
          <a:latin typeface="+mn-lt"/>
        </a:defRPr>
      </a:lvl7pPr>
      <a:lvl8pPr marL="3200400" lvl="7" algn="l" rtl="0">
        <a:defRPr lang="en-US" sz="1800" dirty="0">
          <a:solidFill>
            <a:schemeClr val="tx1"/>
          </a:solidFill>
          <a:latin typeface="+mn-lt"/>
        </a:defRPr>
      </a:lvl8pPr>
      <a:lvl9pPr marL="3657600" lvl="8" algn="l" rtl="0">
        <a:defRPr lang="en-US" sz="1800" dirty="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5173A155-D39B-4A4B-8D04-AEDF7C74512A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25635022-F8A5-4229-B18F-290C3D3C64FB}"/>
              </a:ext>
            </a:extLst>
          </p:cNvPr>
          <p:cNvSpPr txBox="1"/>
          <p:nvPr/>
        </p:nvSpPr>
        <p:spPr>
          <a:xfrm>
            <a:off x="1055440" y="1700808"/>
            <a:ext cx="10374560" cy="10423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endParaRPr lang="en-US" sz="4000" dirty="0">
              <a:solidFill>
                <a:srgbClr val="00B050"/>
              </a:solidFill>
              <a:latin typeface="Arial Rounded MT Bold"/>
            </a:endParaRPr>
          </a:p>
        </p:txBody>
      </p:sp>
      <p:sp>
        <p:nvSpPr>
          <p:cNvPr id="3" name="Title 1">
            <a:extLst>
              <a:ext uri="{64856C8F-7DB4-4507-9010-97CF4AE55C32}">
                <a16:creationId xmlns:a16="http://schemas.microsoft.com/office/drawing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id="{72140DA9-F832-465D-86DE-FEB6803F3756}"/>
              </a:ext>
            </a:extLst>
          </p:cNvPr>
          <p:cNvSpPr txBox="1"/>
          <p:nvPr/>
        </p:nvSpPr>
        <p:spPr>
          <a:xfrm>
            <a:off x="-152400" y="1707980"/>
            <a:ext cx="10696612" cy="16002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endParaRPr lang="en-US" sz="2800" dirty="0">
              <a:solidFill>
                <a:srgbClr val="C00000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7F159A1-205A-9A84-5F29-BAC09BFFE5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388956"/>
              </p:ext>
            </p:extLst>
          </p:nvPr>
        </p:nvGraphicFramePr>
        <p:xfrm>
          <a:off x="4241800" y="4038600"/>
          <a:ext cx="4978400" cy="14477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80350">
                  <a:extLst>
                    <a:ext uri="{9D8B030D-6E8A-4147-A177-3AD203B41FA5}">
                      <a16:colId xmlns:a16="http://schemas.microsoft.com/office/drawing/2014/main" val="4008646060"/>
                    </a:ext>
                  </a:extLst>
                </a:gridCol>
                <a:gridCol w="3498050">
                  <a:extLst>
                    <a:ext uri="{9D8B030D-6E8A-4147-A177-3AD203B41FA5}">
                      <a16:colId xmlns:a16="http://schemas.microsoft.com/office/drawing/2014/main" val="4177372121"/>
                    </a:ext>
                  </a:extLst>
                </a:gridCol>
              </a:tblGrid>
              <a:tr h="3066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IN" sz="1600" b="1" i="0" u="none" strike="noStrike" dirty="0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1600" b="1" i="0" u="none" strike="noStrike" dirty="0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extLst>
                  <a:ext uri="{0D108BD9-81ED-4DB2-BD59-A6C34878D82A}">
                    <a16:rowId xmlns:a16="http://schemas.microsoft.com/office/drawing/2014/main" val="4029920218"/>
                  </a:ext>
                </a:extLst>
              </a:tr>
              <a:tr h="33164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IN" sz="1600" b="0" i="0" u="none" strike="noStrike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1600" b="0" i="0" u="none" strike="noStrike" dirty="0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extLst>
                  <a:ext uri="{0D108BD9-81ED-4DB2-BD59-A6C34878D82A}">
                    <a16:rowId xmlns:a16="http://schemas.microsoft.com/office/drawing/2014/main" val="2060361553"/>
                  </a:ext>
                </a:extLst>
              </a:tr>
              <a:tr h="4778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IN" sz="1600" b="0" i="0" u="none" strike="noStrike" dirty="0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1600" b="0" i="0" u="none" strike="noStrike" dirty="0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extLst>
                  <a:ext uri="{0D108BD9-81ED-4DB2-BD59-A6C34878D82A}">
                    <a16:rowId xmlns:a16="http://schemas.microsoft.com/office/drawing/2014/main" val="2251409142"/>
                  </a:ext>
                </a:extLst>
              </a:tr>
              <a:tr h="33164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IN" sz="1600" b="0" i="0" u="none" strike="noStrike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1600" b="0" i="0" u="none" strike="noStrike" dirty="0">
                        <a:solidFill>
                          <a:srgbClr val="0000F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anchor="ctr"/>
                </a:tc>
                <a:extLst>
                  <a:ext uri="{0D108BD9-81ED-4DB2-BD59-A6C34878D82A}">
                    <a16:rowId xmlns:a16="http://schemas.microsoft.com/office/drawing/2014/main" val="38461126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C4B277-35B1-66B2-CF17-374EC4A29BD2}"/>
              </a:ext>
            </a:extLst>
          </p:cNvPr>
          <p:cNvSpPr txBox="1"/>
          <p:nvPr/>
        </p:nvSpPr>
        <p:spPr>
          <a:xfrm>
            <a:off x="3238500" y="1603562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00FF"/>
                </a:solidFill>
              </a:rPr>
              <a:t>STUDENT RESULT SYSTEM</a:t>
            </a:r>
            <a:endParaRPr lang="en-IN" sz="4000" b="1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0FE588-FBFB-5B2E-F1B3-DF95E386A719}"/>
              </a:ext>
            </a:extLst>
          </p:cNvPr>
          <p:cNvSpPr txBox="1"/>
          <p:nvPr/>
        </p:nvSpPr>
        <p:spPr>
          <a:xfrm>
            <a:off x="4457700" y="2449948"/>
            <a:ext cx="3276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u="sng" dirty="0">
                <a:solidFill>
                  <a:srgbClr val="FF0000"/>
                </a:solidFill>
              </a:rPr>
              <a:t>Presented By:</a:t>
            </a:r>
            <a:endParaRPr lang="en-IN" sz="2400" u="sng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2A88A-EC0B-9F57-F712-14884A2CDDA7}"/>
              </a:ext>
            </a:extLst>
          </p:cNvPr>
          <p:cNvSpPr txBox="1"/>
          <p:nvPr/>
        </p:nvSpPr>
        <p:spPr>
          <a:xfrm>
            <a:off x="4427220" y="3008452"/>
            <a:ext cx="570738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25B11AI908  </a:t>
            </a:r>
            <a:r>
              <a:rPr lang="en-US" sz="2000" b="1" dirty="0"/>
              <a:t>Pasupuleti Sai</a:t>
            </a:r>
          </a:p>
          <a:p>
            <a:r>
              <a:rPr lang="en-US" dirty="0"/>
              <a:t>25B11AI745 </a:t>
            </a:r>
            <a:r>
              <a:rPr lang="en-US" sz="1400" dirty="0"/>
              <a:t>  </a:t>
            </a:r>
            <a:r>
              <a:rPr lang="en-IN" sz="1400" dirty="0">
                <a:solidFill>
                  <a:srgbClr val="000000"/>
                </a:solidFill>
                <a:latin typeface="Arial" panose="020B0604020202020204" pitchFamily="34" charset="0"/>
              </a:rPr>
              <a:t>MANNEPALLY MARUTHI NAGA SAI SRINIVAS</a:t>
            </a:r>
            <a:endParaRPr lang="en-US" sz="1400" dirty="0"/>
          </a:p>
          <a:p>
            <a:r>
              <a:rPr lang="en-US" dirty="0"/>
              <a:t>25B11AIC03  </a:t>
            </a:r>
            <a:r>
              <a:rPr lang="en-IN" sz="1400" dirty="0">
                <a:solidFill>
                  <a:srgbClr val="000000"/>
                </a:solidFill>
                <a:latin typeface="Arial" panose="020B0604020202020204" pitchFamily="34" charset="0"/>
              </a:rPr>
              <a:t>THOTAKURI REVANTH</a:t>
            </a:r>
            <a:endParaRPr lang="en-US" sz="1400" dirty="0"/>
          </a:p>
          <a:p>
            <a:r>
              <a:rPr lang="en-US" dirty="0"/>
              <a:t>26B21AI099   </a:t>
            </a:r>
            <a:r>
              <a:rPr lang="en-IN" sz="1400" dirty="0">
                <a:solidFill>
                  <a:srgbClr val="000000"/>
                </a:solidFill>
                <a:latin typeface="Arial" panose="020B0604020202020204" pitchFamily="34" charset="0"/>
              </a:rPr>
              <a:t>PASUPULETI VENKATA SURYA HARSHA</a:t>
            </a:r>
            <a:endParaRPr lang="en-IN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2017F0-A5E7-B6C7-4B27-92FB29816EA2}"/>
              </a:ext>
            </a:extLst>
          </p:cNvPr>
          <p:cNvSpPr txBox="1"/>
          <p:nvPr/>
        </p:nvSpPr>
        <p:spPr>
          <a:xfrm>
            <a:off x="4463079" y="4320886"/>
            <a:ext cx="43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u="sng" dirty="0">
                <a:solidFill>
                  <a:srgbClr val="FF0000"/>
                </a:solidFill>
              </a:rPr>
              <a:t>Course Instructor:</a:t>
            </a:r>
            <a:endParaRPr lang="en-IN" sz="2400" u="sng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4FB53-892B-92F1-AC02-9FE9D9B940EE}"/>
              </a:ext>
            </a:extLst>
          </p:cNvPr>
          <p:cNvSpPr txBox="1"/>
          <p:nvPr/>
        </p:nvSpPr>
        <p:spPr>
          <a:xfrm>
            <a:off x="4572000" y="4752638"/>
            <a:ext cx="6172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T.VIJAYA LAKSHMI, </a:t>
            </a:r>
            <a:r>
              <a:rPr lang="en-US" dirty="0" err="1"/>
              <a:t>M.Tech</a:t>
            </a:r>
            <a:r>
              <a:rPr lang="en-US" dirty="0"/>
              <a:t>(</a:t>
            </a:r>
            <a:r>
              <a:rPr lang="en-US" dirty="0" err="1"/>
              <a:t>Ph.D</a:t>
            </a:r>
            <a:r>
              <a:rPr lang="en-US" dirty="0"/>
              <a:t>),</a:t>
            </a:r>
          </a:p>
          <a:p>
            <a:r>
              <a:rPr lang="en-US" dirty="0"/>
              <a:t>ASSISTANT PROFESSOR,</a:t>
            </a:r>
          </a:p>
          <a:p>
            <a:r>
              <a:rPr lang="en-US" dirty="0"/>
              <a:t>AIML DEPARTMENT</a:t>
            </a:r>
            <a:endParaRPr lang="en-IN" dirty="0"/>
          </a:p>
        </p:txBody>
      </p:sp>
    </p:spTree>
    <p:extLst>
      <p:ext uri="{59DB2955-81A9-4330-9517-4CB607EFC6F5}">
        <p14:creationId xmlns:p14="http://schemas.microsoft.com/office/powerpoint/2010/main" xmlns:vt="http://schemas.openxmlformats.org/officeDocument/2006/docPropsVTypes" xmlns:ns1="http://schemas.openxmlformats.org/officeDocument/2006/extended-properties" xmlns:cs="http://schemas.microsoft.com/office/drawing/2012/chartStyle" xmlns:c="http://schemas.openxmlformats.org/drawingml/2006/chart" xmlns="" val="1748511710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BC3698-B926-FCD8-3E34-A0BCA597160E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>
            <a:normAutofit fontScale="62500" lnSpcReduction="20000"/>
          </a:bodyPr>
          <a:lstStyle/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Project Abstract 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Problem Statement &amp; Objectives 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Planned Modules / Functions 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Users of the system 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Modules/Functionalities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Architecture Diagram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ER Diagram / DFD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Planning and Timeline Diagram</a:t>
            </a:r>
          </a:p>
          <a:p>
            <a:pPr marL="914400" lvl="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Role of each individual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2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3886200" y="433845"/>
            <a:ext cx="5223386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3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3886200" y="433845"/>
            <a:ext cx="5223386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Project Abstract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82E74-A1DE-B714-2BC1-EF2D794AC9E3}"/>
              </a:ext>
            </a:extLst>
          </p:cNvPr>
          <p:cNvSpPr txBox="1"/>
          <p:nvPr/>
        </p:nvSpPr>
        <p:spPr>
          <a:xfrm>
            <a:off x="609600" y="1447800"/>
            <a:ext cx="1135380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Student Result System is a C++ project that helps manage student academic results easily. It stores student details, calculates total marks, average, percentage, and grade automatically. The system reduces manual work and errors by using object-oriented concepts like classes and functions. It provides a simple menu interface to add, search, and display student results efficiently.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F6E26-5EBD-7DFA-9D63-65A156E2B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0EE6F4-0A46-803D-88FB-5BC3FB5C8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1D132-664E-A79C-D844-556D4C887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4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48EA9-9E25-A067-6BB5-369ECE962D18}"/>
              </a:ext>
            </a:extLst>
          </p:cNvPr>
          <p:cNvSpPr txBox="1"/>
          <p:nvPr/>
        </p:nvSpPr>
        <p:spPr>
          <a:xfrm>
            <a:off x="4572000" y="369393"/>
            <a:ext cx="4648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Introduction</a:t>
            </a:r>
          </a:p>
          <a:p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A5F32-CA72-AB3E-3305-83A87C881263}"/>
              </a:ext>
            </a:extLst>
          </p:cNvPr>
          <p:cNvSpPr txBox="1"/>
          <p:nvPr/>
        </p:nvSpPr>
        <p:spPr>
          <a:xfrm>
            <a:off x="533400" y="1600200"/>
            <a:ext cx="10363200" cy="3699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</a:t>
            </a:r>
            <a:r>
              <a:rPr lang="en-IN" sz="2000" b="1" dirty="0"/>
              <a:t>Student Result System</a:t>
            </a:r>
            <a:r>
              <a:rPr lang="en-IN" sz="2000" dirty="0"/>
              <a:t> is a simple C++ application for managing student academic results.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It stores student details such as roll number, name, and subject marks.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system automatically processes marks and generates the student's result.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It provides options to add, display, and search student results.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It also identifies topper students and failed students.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project demonstrates the practical use of </a:t>
            </a:r>
            <a:r>
              <a:rPr lang="en-IN" sz="2000" b="1" dirty="0"/>
              <a:t>Object-Oriented Programming concepts in C++</a:t>
            </a:r>
            <a:r>
              <a:rPr lang="en-IN" sz="2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68172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5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Problem Statement &amp; Objectives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F31069-1D8A-11E5-07F5-A7323DD57A0F}"/>
              </a:ext>
            </a:extLst>
          </p:cNvPr>
          <p:cNvSpPr txBox="1"/>
          <p:nvPr/>
        </p:nvSpPr>
        <p:spPr>
          <a:xfrm>
            <a:off x="457200" y="914400"/>
            <a:ext cx="10972800" cy="603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result management requires considerable time for calculating marks, assigning grades and identifying student performance. It may also result in calculation and record-management errors.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simple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Result Management System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C++.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student information using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classes and objects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total, average and percentage automatically.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grades and Pass/Fail status.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Provide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 search functionality.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topper(s).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all failed students.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input validation and duplicate roll-number checking.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EC502D-81FB-7746-711A-818132D82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5C3188-8A90-ADD5-65C5-1C85DD16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41695-E5CA-11C3-968E-0C61C929E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95B4F-069C-8500-7197-D3CC474EAE93}"/>
              </a:ext>
            </a:extLst>
          </p:cNvPr>
          <p:cNvSpPr txBox="1"/>
          <p:nvPr/>
        </p:nvSpPr>
        <p:spPr>
          <a:xfrm>
            <a:off x="4182256" y="569626"/>
            <a:ext cx="3285344" cy="649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7BF654-1254-8D62-FDBF-02DA357F0890}"/>
              </a:ext>
            </a:extLst>
          </p:cNvPr>
          <p:cNvSpPr txBox="1"/>
          <p:nvPr/>
        </p:nvSpPr>
        <p:spPr>
          <a:xfrm>
            <a:off x="3886200" y="569626"/>
            <a:ext cx="541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Novelty of the Project </a:t>
            </a:r>
            <a:endParaRPr lang="en-IN" sz="4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033BD-88AE-AC84-1503-CDD49AAEC07C}"/>
              </a:ext>
            </a:extLst>
          </p:cNvPr>
          <p:cNvSpPr txBox="1"/>
          <p:nvPr/>
        </p:nvSpPr>
        <p:spPr>
          <a:xfrm>
            <a:off x="385192" y="1447800"/>
            <a:ext cx="11277600" cy="3699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Automatic Result Calculation</a:t>
            </a:r>
            <a:r>
              <a:rPr lang="en-IN" sz="2000" dirty="0"/>
              <a:t> – Calculates total, average, percentage, and grade automatically.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Multiple Topper Identification</a:t>
            </a:r>
            <a:r>
              <a:rPr lang="en-IN" sz="2000" dirty="0"/>
              <a:t> – Displays all students who have the highest average when there is a tie.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Failed Student Identification</a:t>
            </a:r>
            <a:r>
              <a:rPr lang="en-IN" sz="2000" dirty="0"/>
              <a:t> – Displays all students who have failed.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Quick Student Search</a:t>
            </a:r>
            <a:r>
              <a:rPr lang="en-IN" sz="2000" dirty="0"/>
              <a:t> – Finds a student's complete result using the roll number.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Input Validation</a:t>
            </a:r>
            <a:r>
              <a:rPr lang="en-IN" sz="2000" dirty="0"/>
              <a:t> – Helps prevent invalid marks and incorrect menu choices.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Simple Menu-Driven System</a:t>
            </a:r>
            <a:r>
              <a:rPr lang="en-IN" sz="2000" dirty="0"/>
              <a:t> – Provides an easy and user-friendly way to manage student results.</a:t>
            </a:r>
          </a:p>
        </p:txBody>
      </p:sp>
    </p:spTree>
    <p:extLst>
      <p:ext uri="{BB962C8B-B14F-4D97-AF65-F5344CB8AC3E}">
        <p14:creationId xmlns:p14="http://schemas.microsoft.com/office/powerpoint/2010/main" val="2079886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7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Planned Modules / Functions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0D4B26-D852-A3FC-B81B-0DCDAC7D19E2}"/>
              </a:ext>
            </a:extLst>
          </p:cNvPr>
          <p:cNvSpPr txBox="1"/>
          <p:nvPr/>
        </p:nvSpPr>
        <p:spPr>
          <a:xfrm>
            <a:off x="990600" y="1600200"/>
            <a:ext cx="11039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Management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Add and store student details such as roll number, name, and subject marks.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Calculation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Calculate total marks, average, percentage, grade, and pass/fail status.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Display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Display the complete academic results of all students in a clear format.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Search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Search and display a particular student's result using the roll number.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Topper Identification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Find and display the student or students who have achieved the highest average marks.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Failed Student Display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Identify and display all students who have failed in the examination.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Validation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Validate menu choices, marks, and roll numbers to prevent invalid or duplicate entries.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BC3698-B926-FCD8-3E34-A0BCA597160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95400" y="1371600"/>
            <a:ext cx="10689285" cy="4721695"/>
          </a:xfrm>
        </p:spPr>
        <p:txBody>
          <a:bodyPr>
            <a:normAutofit/>
          </a:bodyPr>
          <a:lstStyle/>
          <a:p>
            <a:pPr marL="800100" indent="-342900">
              <a:buFont typeface="Wingdings" panose="05000000000000000000" pitchFamily="2" charset="2"/>
              <a:buChar char="Ø"/>
            </a:pPr>
            <a:r>
              <a:rPr lang="en-IN" sz="2400" b="1" dirty="0"/>
              <a:t>Faculty / Teachers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Enter student details and marks. 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View complete student results. 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Search individual student records. 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Identify toppers and failed students. </a:t>
            </a:r>
          </a:p>
          <a:p>
            <a:pPr marL="800100" indent="-342900">
              <a:buFont typeface="Wingdings" panose="05000000000000000000" pitchFamily="2" charset="2"/>
              <a:buChar char="Ø"/>
            </a:pPr>
            <a:r>
              <a:rPr lang="en-IN" sz="2400" b="1" dirty="0"/>
              <a:t>Academic Staff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Manage student result records. 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Review overall student performance. </a:t>
            </a:r>
          </a:p>
          <a:p>
            <a:pPr marL="800100" indent="-342900">
              <a:buFont typeface="Wingdings" panose="05000000000000000000" pitchFamily="2" charset="2"/>
              <a:buChar char="Ø"/>
            </a:pPr>
            <a:r>
              <a:rPr lang="en-IN" sz="2400" b="1"/>
              <a:t> </a:t>
            </a:r>
            <a:r>
              <a:rPr lang="en-IN" sz="2400" b="1" dirty="0"/>
              <a:t>Students</a:t>
            </a:r>
          </a:p>
          <a:p>
            <a:pPr marL="800100" lvl="0" indent="-342900">
              <a:buFont typeface="Wingdings" panose="05000000000000000000" pitchFamily="2" charset="2"/>
              <a:buChar char="q"/>
            </a:pPr>
            <a:r>
              <a:rPr lang="en-IN" sz="2400" dirty="0"/>
              <a:t>View their academic result details.</a:t>
            </a:r>
          </a:p>
          <a:p>
            <a:pPr algn="just">
              <a:lnSpc>
                <a:spcPct val="150000"/>
              </a:lnSpc>
            </a:pPr>
            <a:endParaRPr lang="en-IN" sz="2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8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Users of the System</a:t>
            </a:r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9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Modules / Functionalities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813711-7A58-88E0-8F89-04B44827F3F8}"/>
              </a:ext>
            </a:extLst>
          </p:cNvPr>
          <p:cNvSpPr txBox="1"/>
          <p:nvPr/>
        </p:nvSpPr>
        <p:spPr>
          <a:xfrm>
            <a:off x="217842" y="1447800"/>
            <a:ext cx="1212655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Student Management</a:t>
            </a:r>
            <a:br>
              <a:rPr lang="en-IN" sz="2000" dirty="0"/>
            </a:br>
            <a:r>
              <a:rPr lang="en-IN" dirty="0"/>
              <a:t>addStudent()</a:t>
            </a:r>
            <a:r>
              <a:rPr lang="en-IN" sz="2000" dirty="0"/>
              <a:t> – Adds and stores student details and marks.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Result Processing</a:t>
            </a:r>
            <a:br>
              <a:rPr lang="en-IN" sz="2000" dirty="0"/>
            </a:br>
            <a:r>
              <a:rPr lang="en-IN" dirty="0"/>
              <a:t>calculateResult()</a:t>
            </a:r>
            <a:r>
              <a:rPr lang="en-IN" sz="2000" dirty="0"/>
              <a:t> – Calculates total, average, percentage, grade, and PASS/FAIL status.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Result Display</a:t>
            </a:r>
            <a:br>
              <a:rPr lang="en-IN" sz="2000" dirty="0"/>
            </a:br>
            <a:r>
              <a:rPr lang="en-IN" dirty="0"/>
              <a:t>displayAllResults()</a:t>
            </a:r>
            <a:r>
              <a:rPr lang="en-IN" sz="2000" dirty="0"/>
              <a:t> – Displays the complete results of all students.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Search Module</a:t>
            </a:r>
            <a:br>
              <a:rPr lang="en-IN" sz="2000" dirty="0"/>
            </a:br>
            <a:r>
              <a:rPr lang="en-IN" dirty="0" err="1"/>
              <a:t>searchStudent</a:t>
            </a:r>
            <a:r>
              <a:rPr lang="en-IN" dirty="0"/>
              <a:t>()</a:t>
            </a:r>
            <a:r>
              <a:rPr lang="en-IN" sz="2000" dirty="0"/>
              <a:t> – Searches for a student using the roll number.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Topper Module</a:t>
            </a:r>
            <a:br>
              <a:rPr lang="en-IN" sz="2000" dirty="0"/>
            </a:br>
            <a:r>
              <a:rPr lang="en-IN" dirty="0"/>
              <a:t>displayTopper()</a:t>
            </a:r>
            <a:r>
              <a:rPr lang="en-IN" sz="2000" dirty="0"/>
              <a:t> – Finds and displays the student or students with the highest average.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Failed Student Module</a:t>
            </a:r>
            <a:br>
              <a:rPr lang="en-IN" sz="2000" dirty="0"/>
            </a:br>
            <a:r>
              <a:rPr lang="en-IN" dirty="0"/>
              <a:t>displayFailedStudents()</a:t>
            </a:r>
            <a:r>
              <a:rPr lang="en-IN" sz="2000" dirty="0"/>
              <a:t> – Displays all students who have failed.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Validation Module</a:t>
            </a:r>
            <a:br>
              <a:rPr lang="en-IN" sz="2000" dirty="0"/>
            </a:br>
            <a:r>
              <a:rPr lang="en-IN" sz="2000" dirty="0"/>
              <a:t>Validates marks, roll numbers, and menu choices.</a:t>
            </a:r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42B5A3-D650-70BB-A332-4B2F14745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BD8988-3AA7-C2F9-EF72-5C42B4010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69ED71-5A27-3842-28E7-2577B118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10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A2C01C-A4B5-1750-6839-041653EA34FD}"/>
              </a:ext>
            </a:extLst>
          </p:cNvPr>
          <p:cNvSpPr txBox="1"/>
          <p:nvPr/>
        </p:nvSpPr>
        <p:spPr>
          <a:xfrm>
            <a:off x="4419600" y="609600"/>
            <a:ext cx="4953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Implementation </a:t>
            </a:r>
          </a:p>
          <a:p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536419-4E33-61C1-F927-F4991608A1BD}"/>
              </a:ext>
            </a:extLst>
          </p:cNvPr>
          <p:cNvSpPr txBox="1"/>
          <p:nvPr/>
        </p:nvSpPr>
        <p:spPr>
          <a:xfrm>
            <a:off x="1066800" y="1211567"/>
            <a:ext cx="10744200" cy="4930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Developed using </a:t>
            </a:r>
            <a:r>
              <a:rPr lang="en-IN" sz="2000" b="1" dirty="0"/>
              <a:t>C++</a:t>
            </a:r>
            <a:r>
              <a:rPr lang="en-IN" sz="2000" dirty="0"/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Uses a </a:t>
            </a:r>
            <a:r>
              <a:rPr lang="en-IN" sz="2000" b="1" dirty="0"/>
              <a:t>Student class</a:t>
            </a:r>
            <a:r>
              <a:rPr lang="en-IN" sz="2000" dirty="0"/>
              <a:t> to store student information.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Uses objects to represent individual students.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Stores multiple student records using an array of objects.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 menu-driven </a:t>
            </a:r>
            <a:r>
              <a:rPr lang="en-IN" sz="2000" dirty="0">
                <a:latin typeface="+mn-lt"/>
              </a:rPr>
              <a:t>main()</a:t>
            </a:r>
            <a:r>
              <a:rPr lang="en-IN" sz="2000" dirty="0"/>
              <a:t> function controls the system.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Result calculations are performed automatically.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Input validation is used for marks and menu choices.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Search is performed using the student roll number.</a:t>
            </a:r>
          </a:p>
        </p:txBody>
      </p:sp>
    </p:spTree>
    <p:extLst>
      <p:ext uri="{BB962C8B-B14F-4D97-AF65-F5344CB8AC3E}">
        <p14:creationId xmlns:p14="http://schemas.microsoft.com/office/powerpoint/2010/main" val="974908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FBC04B-EECD-63D2-1A06-A0F8C3BA2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41BCE3-D0CE-D4CD-B7FE-4245FF7BB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FF556-F42A-3A69-C145-5CB0F668D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11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BD848A-93DF-FD1E-B808-ADA950972936}"/>
              </a:ext>
            </a:extLst>
          </p:cNvPr>
          <p:cNvSpPr txBox="1"/>
          <p:nvPr/>
        </p:nvSpPr>
        <p:spPr>
          <a:xfrm>
            <a:off x="4343400" y="328108"/>
            <a:ext cx="513697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C++ Concepts Used</a:t>
            </a:r>
          </a:p>
          <a:p>
            <a:endParaRPr lang="en-IN" sz="4000" dirty="0"/>
          </a:p>
          <a:p>
            <a:endParaRPr lang="en-IN" sz="4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BCF552-985B-13F1-489A-33127032B689}"/>
              </a:ext>
            </a:extLst>
          </p:cNvPr>
          <p:cNvSpPr txBox="1"/>
          <p:nvPr/>
        </p:nvSpPr>
        <p:spPr>
          <a:xfrm>
            <a:off x="533400" y="1371600"/>
            <a:ext cx="11353800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Class and Objects</a:t>
            </a:r>
            <a:r>
              <a:rPr lang="en-IN" dirty="0"/>
              <a:t> – Student class represents student details.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Encapsulation</a:t>
            </a:r>
            <a:r>
              <a:rPr lang="en-IN" dirty="0"/>
              <a:t> – Student data and functions are organized within the class.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Constructors</a:t>
            </a:r>
            <a:r>
              <a:rPr lang="en-IN" dirty="0"/>
              <a:t> – Used to initialize student objects.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Functions</a:t>
            </a:r>
            <a:r>
              <a:rPr lang="en-IN" dirty="0"/>
              <a:t> – Divide the system into manageable tasks.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Arrays</a:t>
            </a:r>
            <a:r>
              <a:rPr lang="en-IN" dirty="0"/>
              <a:t> – Store multiple student objects.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Strings</a:t>
            </a:r>
            <a:r>
              <a:rPr lang="en-IN" dirty="0"/>
              <a:t> – Store student names and roll numbers.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Conditional Statements</a:t>
            </a:r>
            <a:r>
              <a:rPr lang="en-IN" dirty="0"/>
              <a:t> – Used for grade and PASS/FAIL calculation.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Loops</a:t>
            </a:r>
            <a:r>
              <a:rPr lang="en-IN" dirty="0"/>
              <a:t> – Used to process multiple student records.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Input Validation</a:t>
            </a:r>
            <a:r>
              <a:rPr lang="en-IN" dirty="0"/>
              <a:t> – Ensures valid data entry.</a:t>
            </a:r>
          </a:p>
        </p:txBody>
      </p:sp>
    </p:spTree>
    <p:extLst>
      <p:ext uri="{BB962C8B-B14F-4D97-AF65-F5344CB8AC3E}">
        <p14:creationId xmlns:p14="http://schemas.microsoft.com/office/powerpoint/2010/main" val="2933531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43F6D9-C5F8-B85E-8CEC-159045BFD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B43910-8479-1CDC-92A2-98EBAEA4F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F939B-CB1F-3924-BFA0-4CB0A61ED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12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856D0-175F-BB4D-B323-4D0BAE046869}"/>
              </a:ext>
            </a:extLst>
          </p:cNvPr>
          <p:cNvSpPr txBox="1"/>
          <p:nvPr/>
        </p:nvSpPr>
        <p:spPr>
          <a:xfrm>
            <a:off x="5181600" y="490925"/>
            <a:ext cx="3352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Inputs </a:t>
            </a:r>
          </a:p>
          <a:p>
            <a:endParaRPr lang="en-IN" sz="4000" dirty="0"/>
          </a:p>
          <a:p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38830-3E84-E5A2-9E38-738696452A8A}"/>
              </a:ext>
            </a:extLst>
          </p:cNvPr>
          <p:cNvSpPr txBox="1"/>
          <p:nvPr/>
        </p:nvSpPr>
        <p:spPr>
          <a:xfrm>
            <a:off x="533400" y="1704260"/>
            <a:ext cx="10134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Student roll number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Student name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Marks in Subject 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Marks in Subject 2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Marks in Subject 3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Menu choice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Roll number for searching</a:t>
            </a:r>
          </a:p>
          <a:p>
            <a:pPr>
              <a:buNone/>
            </a:pPr>
            <a:r>
              <a:rPr lang="en-IN" b="1" dirty="0"/>
              <a:t>Example:</a:t>
            </a:r>
          </a:p>
          <a:p>
            <a:pPr>
              <a:buNone/>
            </a:pPr>
            <a:r>
              <a:rPr lang="en-IN" b="1" dirty="0"/>
              <a:t>Roll Number:</a:t>
            </a:r>
            <a:r>
              <a:rPr lang="en-IN" dirty="0"/>
              <a:t> 25B11AI908</a:t>
            </a:r>
            <a:br>
              <a:rPr lang="en-IN" dirty="0"/>
            </a:br>
            <a:r>
              <a:rPr lang="en-IN" b="1" dirty="0"/>
              <a:t>Name:</a:t>
            </a:r>
            <a:r>
              <a:rPr lang="en-IN" dirty="0"/>
              <a:t> Sai Pasupuleti</a:t>
            </a:r>
            <a:br>
              <a:rPr lang="en-IN" dirty="0"/>
            </a:br>
            <a:r>
              <a:rPr lang="en-IN" b="1" dirty="0"/>
              <a:t>Subject 1:</a:t>
            </a:r>
            <a:r>
              <a:rPr lang="en-IN" dirty="0"/>
              <a:t> 95</a:t>
            </a:r>
            <a:br>
              <a:rPr lang="en-IN" dirty="0"/>
            </a:br>
            <a:r>
              <a:rPr lang="en-IN" b="1" dirty="0"/>
              <a:t>Subject 2:</a:t>
            </a:r>
            <a:r>
              <a:rPr lang="en-IN" dirty="0"/>
              <a:t> 92</a:t>
            </a:r>
            <a:br>
              <a:rPr lang="en-IN" dirty="0"/>
            </a:br>
            <a:r>
              <a:rPr lang="en-IN" b="1" dirty="0"/>
              <a:t>Subject 3:</a:t>
            </a:r>
            <a:r>
              <a:rPr lang="en-IN" dirty="0"/>
              <a:t> 91</a:t>
            </a:r>
          </a:p>
        </p:txBody>
      </p:sp>
    </p:spTree>
    <p:extLst>
      <p:ext uri="{BB962C8B-B14F-4D97-AF65-F5344CB8AC3E}">
        <p14:creationId xmlns:p14="http://schemas.microsoft.com/office/powerpoint/2010/main" val="2140251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5A6EBA-94DE-7268-8EF1-49D26C178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64D8DD-85F0-7DB3-4172-B63BA1DD4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B703C-C0DB-9262-0274-C1DA2DCAC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13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EFA1DC-A449-6A1F-DA8D-58663F4D5291}"/>
              </a:ext>
            </a:extLst>
          </p:cNvPr>
          <p:cNvSpPr txBox="1"/>
          <p:nvPr/>
        </p:nvSpPr>
        <p:spPr>
          <a:xfrm>
            <a:off x="4648200" y="214104"/>
            <a:ext cx="40386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Expected outputs </a:t>
            </a:r>
          </a:p>
          <a:p>
            <a:endParaRPr lang="en-IN" sz="4000" dirty="0"/>
          </a:p>
          <a:p>
            <a:endParaRPr lang="en-IN" sz="4000" dirty="0"/>
          </a:p>
          <a:p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4B5523-7432-5656-D42E-223239E185E5}"/>
              </a:ext>
            </a:extLst>
          </p:cNvPr>
          <p:cNvSpPr txBox="1"/>
          <p:nvPr/>
        </p:nvSpPr>
        <p:spPr>
          <a:xfrm>
            <a:off x="695400" y="1143001"/>
            <a:ext cx="10277400" cy="5122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Successful student registration message.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Complete student result.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Total marks.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Average marks.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Percentage.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Grade.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PASS/FAIL status.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Search result for a particular student.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List of topper student(s).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List of failed students.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Appropriate validation messages.</a:t>
            </a:r>
          </a:p>
        </p:txBody>
      </p:sp>
    </p:spTree>
    <p:extLst>
      <p:ext uri="{BB962C8B-B14F-4D97-AF65-F5344CB8AC3E}">
        <p14:creationId xmlns:p14="http://schemas.microsoft.com/office/powerpoint/2010/main" val="3221157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14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Architecture Diagram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4176BE-6834-7BA4-A4E5-892E04C97D83}"/>
              </a:ext>
            </a:extLst>
          </p:cNvPr>
          <p:cNvSpPr txBox="1"/>
          <p:nvPr/>
        </p:nvSpPr>
        <p:spPr>
          <a:xfrm>
            <a:off x="914400" y="1143000"/>
            <a:ext cx="11125200" cy="502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EB23971-2E20-E2AD-DEC4-EA6847198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1036429"/>
            <a:ext cx="3882808" cy="4961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171D24-8A54-9E45-E2B0-4B37951C9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3EFD76-FC9E-CFE9-6CAC-6C26D7247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93A3B-D02C-0BE1-236A-521B5C30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15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119E9-706A-E2D0-EDBD-6BC776921876}"/>
              </a:ext>
            </a:extLst>
          </p:cNvPr>
          <p:cNvSpPr txBox="1"/>
          <p:nvPr/>
        </p:nvSpPr>
        <p:spPr>
          <a:xfrm>
            <a:off x="4998160" y="102540"/>
            <a:ext cx="36576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Flowchart </a:t>
            </a:r>
          </a:p>
          <a:p>
            <a:endParaRPr lang="en-IN" sz="4000" dirty="0"/>
          </a:p>
          <a:p>
            <a:endParaRPr lang="en-IN" sz="4000" dirty="0"/>
          </a:p>
          <a:p>
            <a:endParaRPr lang="en-IN" sz="4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340238-CBB7-4BCD-A4B4-6909F6ED80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1057815"/>
            <a:ext cx="4967121" cy="5298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417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16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Planning and Timeline Diagram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463040"/>
            <a:ext cx="1045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1F3A5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9462" y="1463040"/>
            <a:ext cx="1045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1F3A5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0579" y="1463040"/>
            <a:ext cx="1045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1F3A5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7436" y="1440419"/>
            <a:ext cx="1045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1F3A5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3004" y="1401807"/>
            <a:ext cx="1045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1F3A5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28800"/>
            <a:ext cx="2880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Requirement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1883664"/>
            <a:ext cx="1045028" cy="384048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2395728"/>
            <a:ext cx="2880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(Class/ER Diagrams)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6948" y="2450592"/>
            <a:ext cx="2090057" cy="384048"/>
          </a:xfrm>
          <a:prstGeom prst="roundRect">
            <a:avLst/>
          </a:prstGeom>
          <a:solidFill>
            <a:srgbClr val="2E5B8A"/>
          </a:solidFill>
          <a:ln>
            <a:solidFill>
              <a:srgbClr val="2E5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2962656"/>
            <a:ext cx="2880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Coding &amp; Module Development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1977" y="3017520"/>
            <a:ext cx="3135085" cy="384048"/>
          </a:xfrm>
          <a:prstGeom prst="roundRect">
            <a:avLst/>
          </a:prstGeom>
          <a:solidFill>
            <a:srgbClr val="2E868A"/>
          </a:solidFill>
          <a:ln>
            <a:solidFill>
              <a:srgbClr val="2E8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3529584"/>
            <a:ext cx="2880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Integration &amp; Testing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57062" y="3584448"/>
            <a:ext cx="1567542" cy="384048"/>
          </a:xfrm>
          <a:prstGeom prst="roundRect">
            <a:avLst/>
          </a:prstGeom>
          <a:solidFill>
            <a:srgbClr val="2E5B8A"/>
          </a:solidFill>
          <a:ln>
            <a:solidFill>
              <a:srgbClr val="2E5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2880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 &amp; Final Review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11097" y="4151376"/>
            <a:ext cx="1045028" cy="384048"/>
          </a:xfrm>
          <a:prstGeom prst="roundRect">
            <a:avLst/>
          </a:prstGeom>
          <a:solidFill>
            <a:srgbClr val="2E868A"/>
          </a:solidFill>
          <a:ln>
            <a:solidFill>
              <a:srgbClr val="2E8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B478A-2226-B360-8AD2-E37AD61AAA2F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4A026F9-4B12-44A3-954F-2C895BB9BCAE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A7CD3-FDC3-32A7-74E1-968EEFC4A7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66408-B064-CD45-6F0B-FF7488C8CC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17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07C4F-2400-B326-479D-154C65509A60}"/>
              </a:ext>
            </a:extLst>
          </p:cNvPr>
          <p:cNvSpPr txBox="1"/>
          <p:nvPr/>
        </p:nvSpPr>
        <p:spPr>
          <a:xfrm>
            <a:off x="1596000" y="433845"/>
            <a:ext cx="900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en-GB" sz="32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Role of Each Individual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825956"/>
              </p:ext>
            </p:extLst>
          </p:nvPr>
        </p:nvGraphicFramePr>
        <p:xfrm>
          <a:off x="914400" y="1920240"/>
          <a:ext cx="9418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Roll No.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Role / Responsibility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25B11AI908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PASUPULETI SAI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Project planning, coding, integration, testing and team coordination</a:t>
                      </a:r>
                      <a:endParaRPr sz="1800" b="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25B11AI745</a:t>
                      </a:r>
                    </a:p>
                  </a:txBody>
                  <a:tcPr anchor="ctr"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MANNEPALLY MARUTHI NAGA SAI SRINIVAS</a:t>
                      </a:r>
                      <a:endParaRPr sz="1400" b="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Requirement analysis and testing</a:t>
                      </a:r>
                    </a:p>
                  </a:txBody>
                  <a:tcPr anchor="ctr"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25B11AIC03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THOTAKURI REVANTH</a:t>
                      </a:r>
                      <a:endParaRPr lang="en-US" sz="1400"/>
                    </a:p>
                    <a:p>
                      <a:endParaRPr sz="1400" b="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Flowchart, diagrams and documentation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22222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26B21AI099</a:t>
                      </a:r>
                    </a:p>
                  </a:txBody>
                  <a:tcPr anchor="ctr"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PASUPULETI VENKATA SURYA HARSHA</a:t>
                      </a:r>
                      <a:endParaRPr sz="1400" b="0" dirty="0">
                        <a:solidFill>
                          <a:srgbClr val="22222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PPT preparation, output verification and presentation</a:t>
                      </a:r>
                    </a:p>
                  </a:txBody>
                  <a:tcPr anchor="ctr"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0977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92CB29-D881-6A67-D225-3DF4DB918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C2C91A-7596-96C2-3EC9-F8EA5FF95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A9422-0E96-63FC-56C8-90E61AC30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18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577703-A293-8598-539C-0E83C4664BC3}"/>
              </a:ext>
            </a:extLst>
          </p:cNvPr>
          <p:cNvSpPr txBox="1"/>
          <p:nvPr/>
        </p:nvSpPr>
        <p:spPr>
          <a:xfrm>
            <a:off x="4576192" y="214104"/>
            <a:ext cx="289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Conclusion</a:t>
            </a:r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C44B8-9E64-F657-2BD8-E7D8F6BE4778}"/>
              </a:ext>
            </a:extLst>
          </p:cNvPr>
          <p:cNvSpPr txBox="1"/>
          <p:nvPr/>
        </p:nvSpPr>
        <p:spPr>
          <a:xfrm>
            <a:off x="533400" y="1447800"/>
            <a:ext cx="8549640" cy="444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</a:t>
            </a:r>
            <a:r>
              <a:rPr lang="en-IN" b="1" dirty="0"/>
              <a:t>Student Result System</a:t>
            </a:r>
            <a:r>
              <a:rPr lang="en-IN" dirty="0"/>
              <a:t> simplifies student result management.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It reduces manual calculation and record-keeping effort.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system provides quick access to student results.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Automatic calculation helps reduce errors.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Topper and failed student identification makes result analysis easier.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project demonstrates practical implementation of </a:t>
            </a:r>
            <a:r>
              <a:rPr lang="en-IN" b="1" dirty="0"/>
              <a:t>C++ and OOP concepts</a:t>
            </a:r>
            <a:r>
              <a:rPr lang="en-IN" dirty="0"/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system can be further improved with file storage, database connectivity, and a graphical interface.</a:t>
            </a:r>
          </a:p>
        </p:txBody>
      </p:sp>
    </p:spTree>
    <p:extLst>
      <p:ext uri="{BB962C8B-B14F-4D97-AF65-F5344CB8AC3E}">
        <p14:creationId xmlns:p14="http://schemas.microsoft.com/office/powerpoint/2010/main" val="10374929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328EB6-5593-D2E5-0DB8-121AC9398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D253-940C-44B0-8F51-8C8A37AEAF73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85BDA6-0AFB-BBE6-167E-1FD3D349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13C1A-1AF5-8A33-041D-5D585558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5B093-D3DD-4808-813A-F58BF8E67773}" type="slidenum">
              <a:rPr lang="en-IN" smtClean="0"/>
              <a:t>19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865DA9-10FE-2C5A-AD93-C2BC54E0F21B}"/>
              </a:ext>
            </a:extLst>
          </p:cNvPr>
          <p:cNvSpPr txBox="1"/>
          <p:nvPr/>
        </p:nvSpPr>
        <p:spPr>
          <a:xfrm>
            <a:off x="4800600" y="320675"/>
            <a:ext cx="4038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solidFill>
                  <a:srgbClr val="0000FF"/>
                </a:solidFill>
                <a:latin typeface="Maiandra GD" panose="020E0502030308020204" pitchFamily="34" charset="0"/>
                <a:cs typeface="Aharoni" panose="02010803020104030203" pitchFamily="2" charset="-79"/>
              </a:rPr>
              <a:t>Reference</a:t>
            </a:r>
            <a:endParaRPr lang="en-IN" sz="4000" dirty="0"/>
          </a:p>
          <a:p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39081-7CD3-C40D-E9AD-7C4F76D9B106}"/>
              </a:ext>
            </a:extLst>
          </p:cNvPr>
          <p:cNvSpPr txBox="1"/>
          <p:nvPr/>
        </p:nvSpPr>
        <p:spPr>
          <a:xfrm>
            <a:off x="747464" y="1644114"/>
            <a:ext cx="9525000" cy="27847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C++ programming concepts and Object-Oriented Programming course material.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C++ Standard Library documentation.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Class, object, constructor and function concepts in C++.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Arrays, strings, functions and control statements in C++.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Project source code and implementation developed for the PBL project.</a:t>
            </a:r>
          </a:p>
        </p:txBody>
      </p:sp>
    </p:spTree>
    <p:extLst>
      <p:ext uri="{BB962C8B-B14F-4D97-AF65-F5344CB8AC3E}">
        <p14:creationId xmlns:p14="http://schemas.microsoft.com/office/powerpoint/2010/main" val="2337998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714BADD-841F-98DA-7B1A-166F39B295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/>
              <a:t>PBL Course Name: Object Oriented Programming through C++(2501CS08)     REVIEW-1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C0285F-93AB-F1ED-9404-7BA7181450BB}"/>
              </a:ext>
            </a:extLst>
          </p:cNvPr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383F8C5-9DCC-4575-9E47-831DF7A3DFC7}" type="datetime1">
              <a:rPr lang="en-US" smtClean="0"/>
              <a:t>10/27/2026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A9194-EE25-3196-F348-A230F71DC18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59D16F-76A5-41BA-ADDD-CBF352B33DDD}" type="slidenum">
              <a:rPr lang="en-IN" smtClean="0"/>
              <a:t>20</a:t>
            </a:fld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545F3-2E69-E049-C59F-A53A0DAFBC41}"/>
              </a:ext>
            </a:extLst>
          </p:cNvPr>
          <p:cNvSpPr txBox="1"/>
          <p:nvPr/>
        </p:nvSpPr>
        <p:spPr>
          <a:xfrm>
            <a:off x="1219200" y="1447800"/>
            <a:ext cx="10363200" cy="464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159799-4BDD-C019-C8C9-95C23D8E6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583" y="1524000"/>
            <a:ext cx="7010400" cy="36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968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4999"/>
                <a:lumMod val="110000"/>
              </a:schemeClr>
            </a:gs>
            <a:gs pos="50000">
              <a:schemeClr val="phClr">
                <a:tint val="73000"/>
                <a:satMod val="103000"/>
                <a:lumMod val="104999"/>
              </a:schemeClr>
            </a:gs>
            <a:gs pos="100000">
              <a:schemeClr val="phClr">
                <a:tint val="81000"/>
                <a:satMod val="109000"/>
                <a:lumMod val="104999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>
          <a:solidFill>
            <a:schemeClr val="phClr"/>
          </a:solidFill>
          <a:prstDash val="solid"/>
          <a:miter lim="800000"/>
        </a:ln>
        <a:ln w="12700" cap="flat">
          <a:solidFill>
            <a:schemeClr val="phClr"/>
          </a:solidFill>
          <a:prstDash val="solid"/>
          <a:miter lim="800000"/>
        </a:ln>
        <a:ln w="19050" cap="flat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4999"/>
                <a:lumMod val="110000"/>
              </a:schemeClr>
            </a:gs>
            <a:gs pos="50000">
              <a:schemeClr val="phClr">
                <a:tint val="73000"/>
                <a:satMod val="103000"/>
                <a:lumMod val="104999"/>
              </a:schemeClr>
            </a:gs>
            <a:gs pos="100000">
              <a:schemeClr val="phClr">
                <a:tint val="81000"/>
                <a:satMod val="109000"/>
                <a:lumMod val="104999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>
          <a:solidFill>
            <a:schemeClr val="phClr"/>
          </a:solidFill>
          <a:prstDash val="solid"/>
          <a:miter lim="800000"/>
        </a:ln>
        <a:ln w="12700" cap="flat">
          <a:solidFill>
            <a:schemeClr val="phClr"/>
          </a:solidFill>
          <a:prstDash val="solid"/>
          <a:miter lim="800000"/>
        </a:ln>
        <a:ln w="19050" cap="flat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1439</Words>
  <Application>Microsoft Office PowerPoint</Application>
  <PresentationFormat>Widescreen</PresentationFormat>
  <Paragraphs>225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Aharoni</vt:lpstr>
      <vt:lpstr>Wingdings</vt:lpstr>
      <vt:lpstr>Arial</vt:lpstr>
      <vt:lpstr>Arial Rounded MT Bold</vt:lpstr>
      <vt:lpstr>Calibri</vt:lpstr>
      <vt:lpstr>Times New Roman</vt:lpstr>
      <vt:lpstr>Calibri Light</vt:lpstr>
      <vt:lpstr>Maiandra GD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HP</dc:creator>
  <cp:lastModifiedBy>Sai Pasupuleti</cp:lastModifiedBy>
  <cp:revision>105</cp:revision>
  <cp:lastPrinted>2025-09-02T05:24:44Z</cp:lastPrinted>
  <dcterms:created xsi:type="dcterms:W3CDTF">2025-05-29T13:02:32Z</dcterms:created>
  <dcterms:modified xsi:type="dcterms:W3CDTF">2026-10-27T06:30:08Z</dcterms:modified>
</cp:coreProperties>
</file>